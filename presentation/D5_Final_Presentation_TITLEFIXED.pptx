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44" y="-1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8709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4B896"/>
          </a:solidFill>
          <a:ln>
            <a:solidFill>
              <a:srgbClr val="D4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164592"/>
            <a:ext cx="8814816" cy="4814316"/>
          </a:xfrm>
          <a:prstGeom prst="rect">
            <a:avLst/>
          </a:prstGeom>
          <a:solidFill>
            <a:srgbClr val="FAF6F0"/>
          </a:solidFill>
          <a:ln>
            <a:solidFill>
              <a:srgbClr val="FA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64592"/>
            <a:ext cx="8814816" cy="50292"/>
          </a:xfrm>
          <a:prstGeom prst="rect">
            <a:avLst/>
          </a:prstGeom>
          <a:solidFill>
            <a:srgbClr val="3A5A3A"/>
          </a:solidFill>
          <a:ln>
            <a:solidFill>
              <a:srgbClr val="3A5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2004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A5A3A"/>
                </a:solidFill>
                <a:latin typeface="Georgia"/>
              </a:rPr>
              <a:t>Text Analytics on British Airways Customer Reviews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011680"/>
            <a:ext cx="2011680" cy="27432"/>
          </a:xfrm>
          <a:prstGeom prst="rect">
            <a:avLst/>
          </a:prstGeom>
          <a:solidFill>
            <a:srgbClr val="5B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084831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B8A5B"/>
                </a:solidFill>
                <a:latin typeface="Calibri"/>
              </a:rPr>
              <a:t>D5 — Final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5059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CIS 428: Text Analytics  |  Professor: Jinie Pak  |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432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2C2C"/>
                </a:solidFill>
                <a:latin typeface="Calibri"/>
              </a:rPr>
              <a:t>Sofia Foutzitzi  ●  Niranjan K C  ●  Pradip Raj Dhakal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090672"/>
            <a:ext cx="50292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18211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Sofia — Introduction, EDA, Discussion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40156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Niranjan — Dataset, Preprocessing, Sentiment Analysis, 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62102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Pradip — Classification Models, Topic Modeling, Conclusion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256032"/>
            <a:ext cx="3200400" cy="4636008"/>
          </a:xfrm>
          <a:prstGeom prst="rect">
            <a:avLst/>
          </a:prstGeom>
          <a:solidFill>
            <a:srgbClr val="1B3A6B"/>
          </a:solidFill>
          <a:ln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60" y="5029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FFFFFF"/>
                </a:solidFill>
                <a:latin typeface="Segoe UI Emoji"/>
              </a:rPr>
              <a:t>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British Airways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97880" y="2121408"/>
            <a:ext cx="2651760" cy="36576"/>
          </a:xfrm>
          <a:prstGeom prst="rect">
            <a:avLst/>
          </a:prstGeom>
          <a:solidFill>
            <a:srgbClr val="4A7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23560" y="223113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DD"/>
                </a:solidFill>
                <a:latin typeface="Calibri"/>
              </a:rPr>
              <a:t>3,701 Reviews Analyzed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25786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AED4"/>
                </a:solidFill>
                <a:latin typeface="Calibri"/>
              </a:rPr>
              <a:t>Naive Bayes  ●  KNN  ●  LDA
Lexicon Sentiment Analysis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23560" y="4206240"/>
            <a:ext cx="3200400" cy="685800"/>
          </a:xfrm>
          <a:prstGeom prst="rect">
            <a:avLst/>
          </a:prstGeom>
          <a:solidFill>
            <a:srgbClr val="14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23560" y="43159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9FC4"/>
                </a:solidFill>
                <a:latin typeface="Calibri"/>
              </a:rPr>
              <a:t>Kaggle Dataset  ●  R Programming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4B896"/>
          </a:solidFill>
          <a:ln w="12700">
            <a:solidFill>
              <a:srgbClr val="D4B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164592"/>
            <a:ext cx="8814816" cy="6528816"/>
          </a:xfrm>
          <a:prstGeom prst="rect">
            <a:avLst/>
          </a:prstGeom>
          <a:solidFill>
            <a:srgbClr val="FAF6F0"/>
          </a:solidFill>
          <a:ln w="12700">
            <a:solidFill>
              <a:srgbClr val="FA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164592"/>
            <a:ext cx="8814816" cy="54864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292608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A5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&amp; Motivation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8503920" cy="22860"/>
          </a:xfrm>
          <a:prstGeom prst="rect">
            <a:avLst/>
          </a:prstGeom>
          <a:solidFill>
            <a:srgbClr val="5B8A5B"/>
          </a:solidFill>
          <a:ln w="12700">
            <a:solidFill>
              <a:srgbClr val="5B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8503920" cy="960120"/>
          </a:xfrm>
          <a:prstGeom prst="rect">
            <a:avLst/>
          </a:prstGeom>
          <a:solidFill>
            <a:srgbClr val="EAF2E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1371600" cy="960120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960120"/>
            <a:ext cx="1371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83080" y="1143000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Airways receives thousands of written reviews annually. Manually analyzing this volume is impractical and prone to missing patterns.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039112"/>
            <a:ext cx="85039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" y="2039112"/>
            <a:ext cx="1371600" cy="960120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039112"/>
            <a:ext cx="1371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83080" y="2221992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text analytics and NLP to automatically extract meaningful insight's themes, sentiment, and predictive models from 3,701 reviews.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118104"/>
            <a:ext cx="8503920" cy="960120"/>
          </a:xfrm>
          <a:prstGeom prst="rect">
            <a:avLst/>
          </a:prstGeom>
          <a:solidFill>
            <a:srgbClr val="EAF2E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3118104"/>
            <a:ext cx="1371600" cy="960120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3118104"/>
            <a:ext cx="1371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783080" y="3300984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Customer Experience Analytics in the Airline Industry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4197096"/>
            <a:ext cx="85039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" y="4197096"/>
            <a:ext cx="1371600" cy="960120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4197096"/>
            <a:ext cx="1371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783080" y="4379976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Airways Reviews from Kaggle (Chaudhary &amp; Risinahani, 2023) — 3,701 reviews, 20 columns, structured + unstructured data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5276088"/>
            <a:ext cx="8503920" cy="960120"/>
          </a:xfrm>
          <a:prstGeom prst="rect">
            <a:avLst/>
          </a:prstGeom>
          <a:solidFill>
            <a:srgbClr val="EAF2E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0040" y="5276088"/>
            <a:ext cx="1371600" cy="960120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5276088"/>
            <a:ext cx="1371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783080" y="5458968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pipeline: preprocessing → EDA → classification (Naive Bayes, KNN, Lexicon) → clustering (LDA topic modeling)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4B896"/>
          </a:solidFill>
          <a:ln w="12700">
            <a:solidFill>
              <a:srgbClr val="D4B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164592"/>
            <a:ext cx="8814816" cy="6528816"/>
          </a:xfrm>
          <a:prstGeom prst="rect">
            <a:avLst/>
          </a:prstGeom>
          <a:solidFill>
            <a:srgbClr val="FAF6F0"/>
          </a:solidFill>
          <a:ln w="12700">
            <a:solidFill>
              <a:srgbClr val="FA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164592"/>
            <a:ext cx="8814816" cy="54864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292608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A5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8503920" cy="22860"/>
          </a:xfrm>
          <a:prstGeom prst="rect">
            <a:avLst/>
          </a:prstGeom>
          <a:solidFill>
            <a:srgbClr val="5B8A5B"/>
          </a:solidFill>
          <a:ln w="12700">
            <a:solidFill>
              <a:srgbClr val="5B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8503920" cy="868680"/>
          </a:xfrm>
          <a:prstGeom prst="rect">
            <a:avLst/>
          </a:prstGeom>
          <a:solidFill>
            <a:srgbClr val="EAF2E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960120" cy="868680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005840"/>
            <a:ext cx="960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1188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topics and themes appear most frequently in British Airways customer reviews?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011680"/>
            <a:ext cx="8503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" y="2011680"/>
            <a:ext cx="960120" cy="868680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011680"/>
            <a:ext cx="960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194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traveler type (economy vs. business class) influence the positivity or negativity of reviews?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017520"/>
            <a:ext cx="8503920" cy="868680"/>
          </a:xfrm>
          <a:prstGeom prst="rect">
            <a:avLst/>
          </a:prstGeom>
          <a:solidFill>
            <a:srgbClr val="EAF2E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3017520"/>
            <a:ext cx="960120" cy="868680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3017520"/>
            <a:ext cx="960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200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textual sentiment relate to numerical review ratings?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4023360"/>
            <a:ext cx="8503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" y="4023360"/>
            <a:ext cx="960120" cy="868680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4023360"/>
            <a:ext cx="960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4206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service factors (delays, staff behavior, comfort) are most associated with negative reviews?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5029200"/>
            <a:ext cx="8503920" cy="868680"/>
          </a:xfrm>
          <a:prstGeom prst="rect">
            <a:avLst/>
          </a:prstGeom>
          <a:solidFill>
            <a:srgbClr val="EAF2E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0040" y="5029200"/>
            <a:ext cx="960120" cy="868680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5029200"/>
            <a:ext cx="960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71600" y="5212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review text be used to predict customer satisfaction levels?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4B896"/>
          </a:solidFill>
          <a:ln w="12700">
            <a:solidFill>
              <a:srgbClr val="D4B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219456"/>
            <a:ext cx="8814816" cy="6528816"/>
          </a:xfrm>
          <a:prstGeom prst="rect">
            <a:avLst/>
          </a:prstGeom>
          <a:solidFill>
            <a:srgbClr val="FAF6F0"/>
          </a:solidFill>
          <a:ln w="12700">
            <a:solidFill>
              <a:srgbClr val="FAF6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164592" y="164592"/>
            <a:ext cx="8814816" cy="54864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292608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A5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8503920" cy="22860"/>
          </a:xfrm>
          <a:prstGeom prst="rect">
            <a:avLst/>
          </a:prstGeom>
          <a:solidFill>
            <a:srgbClr val="5B8A5B"/>
          </a:solidFill>
          <a:ln w="12700">
            <a:solidFill>
              <a:srgbClr val="5B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1554480" cy="1234440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3,701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0040" y="16916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Reviews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0" y="960120"/>
            <a:ext cx="1554480" cy="1234440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11680" y="10515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011680" y="16916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03320" y="960120"/>
            <a:ext cx="1554480" cy="1234440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03320" y="10515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52.7%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703320" y="16916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Sentiment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94960" y="960120"/>
            <a:ext cx="1554480" cy="1234440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94960" y="10515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59.5%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394960" y="16916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Recommended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86600" y="960120"/>
            <a:ext cx="1554480" cy="1234440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086600" y="10515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52.1%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086600" y="16916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Class</a:t>
            </a:r>
            <a:endParaRPr lang="en-US" sz="1000" dirty="0"/>
          </a:p>
        </p:txBody>
      </p:sp>
      <p:pic>
        <p:nvPicPr>
          <p:cNvPr id="22" name="Image 0" descr="/mnt/user-data/uploads/1777673209321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331719"/>
            <a:ext cx="4160520" cy="3550266"/>
          </a:xfrm>
          <a:prstGeom prst="rect">
            <a:avLst/>
          </a:prstGeom>
        </p:spPr>
      </p:pic>
      <p:pic>
        <p:nvPicPr>
          <p:cNvPr id="23" name="Image 1" descr="/mnt/user-data/uploads/1777673222523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331719"/>
            <a:ext cx="4160520" cy="3550265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20040" y="6046577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1: Distribution of Overall Ratings (1–10)</a:t>
            </a:r>
            <a:endParaRPr lang="en-US" sz="900" b="1" dirty="0"/>
          </a:p>
        </p:txBody>
      </p:sp>
      <p:sp>
        <p:nvSpPr>
          <p:cNvPr id="25" name="Text 21"/>
          <p:cNvSpPr/>
          <p:nvPr/>
        </p:nvSpPr>
        <p:spPr>
          <a:xfrm>
            <a:off x="4645152" y="6046577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2: Recommended vs Not Recommended</a:t>
            </a:r>
            <a:endParaRPr lang="en-US" sz="9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4B896"/>
          </a:solidFill>
          <a:ln w="12700">
            <a:solidFill>
              <a:srgbClr val="D4B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164592"/>
            <a:ext cx="8814816" cy="6528816"/>
          </a:xfrm>
          <a:prstGeom prst="rect">
            <a:avLst/>
          </a:prstGeom>
          <a:solidFill>
            <a:srgbClr val="FAF6F0"/>
          </a:solidFill>
          <a:ln w="12700">
            <a:solidFill>
              <a:srgbClr val="FA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164592"/>
            <a:ext cx="8814816" cy="54864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292608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A5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Preprocessing Pipeline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8503920" cy="22860"/>
          </a:xfrm>
          <a:prstGeom prst="rect">
            <a:avLst/>
          </a:prstGeom>
          <a:solidFill>
            <a:srgbClr val="5B8A5B"/>
          </a:solidFill>
          <a:ln w="12700">
            <a:solidFill>
              <a:srgbClr val="5B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41605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384048" cy="1234440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960120"/>
            <a:ext cx="3840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5528" y="105156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Inspect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95528" y="1472184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read.csv(), dim(), str(), summary()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331720"/>
            <a:ext cx="41605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2331720"/>
            <a:ext cx="384048" cy="1234440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2331720"/>
            <a:ext cx="3840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95528" y="242316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Rename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5528" y="2843784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extra columns, renamed Rating &amp; Review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703320"/>
            <a:ext cx="41605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3703320"/>
            <a:ext cx="384048" cy="1234440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3703320"/>
            <a:ext cx="3840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95528" y="379476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Conversion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95528" y="4215384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Sub-ratings to numeric, Seat/Traveller as factors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5074920"/>
            <a:ext cx="41605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" y="5074920"/>
            <a:ext cx="384048" cy="1234440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040" y="5074920"/>
            <a:ext cx="3840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95528" y="516636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Formatting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95528" y="5586984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lubridate package — standardized DateFlown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960120"/>
            <a:ext cx="41605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54880" y="960120"/>
            <a:ext cx="384048" cy="1234440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54880" y="960120"/>
            <a:ext cx="3840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230368" y="105156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Variable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30368" y="1472184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(7–10), Neutral (5–6), Negative (1–4)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2331720"/>
            <a:ext cx="41605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54880" y="2331720"/>
            <a:ext cx="384048" cy="1234440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54880" y="2331720"/>
            <a:ext cx="3840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230368" y="242316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Cleaning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30368" y="2843784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Lowercase, remove punctuation, numbers, stopwords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3703320"/>
            <a:ext cx="41605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754880" y="3703320"/>
            <a:ext cx="384048" cy="1234440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54880" y="3703320"/>
            <a:ext cx="3840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5230368" y="379476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230368" y="4215384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unnest_tokens() — individual word tokens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5074920"/>
            <a:ext cx="41605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754880" y="5074920"/>
            <a:ext cx="384048" cy="1234440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754880" y="5074920"/>
            <a:ext cx="3840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5230368" y="516636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DTM Construction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230368" y="5586984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DocumentTermMatrix → sparse term removal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4B896"/>
          </a:solidFill>
          <a:ln w="12700">
            <a:solidFill>
              <a:srgbClr val="D4B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164592"/>
            <a:ext cx="8814816" cy="6528816"/>
          </a:xfrm>
          <a:prstGeom prst="rect">
            <a:avLst/>
          </a:prstGeom>
          <a:solidFill>
            <a:srgbClr val="FAF6F0"/>
          </a:solidFill>
          <a:ln w="12700">
            <a:solidFill>
              <a:srgbClr val="FA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164592"/>
            <a:ext cx="8814816" cy="54864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292608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A5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 — Traveler Type &amp; Seat Class Distribution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8503920" cy="22860"/>
          </a:xfrm>
          <a:prstGeom prst="rect">
            <a:avLst/>
          </a:prstGeom>
          <a:solidFill>
            <a:srgbClr val="5B8A5B"/>
          </a:solidFill>
          <a:ln w="12700">
            <a:solidFill>
              <a:srgbClr val="5B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user-data/uploads/1777673232118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14400"/>
            <a:ext cx="4160520" cy="2880360"/>
          </a:xfrm>
          <a:prstGeom prst="rect">
            <a:avLst/>
          </a:prstGeom>
        </p:spPr>
      </p:pic>
      <p:pic>
        <p:nvPicPr>
          <p:cNvPr id="8" name="Image 1" descr="/mnt/user-data/uploads/1777673240331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914400"/>
            <a:ext cx="4160520" cy="2880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0040" y="3794760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3: Reviews by Traveler Type</a:t>
            </a:r>
            <a:endParaRPr lang="en-US" sz="900" b="1" dirty="0"/>
          </a:p>
        </p:txBody>
      </p:sp>
      <p:sp>
        <p:nvSpPr>
          <p:cNvPr id="10" name="Text 6"/>
          <p:cNvSpPr/>
          <p:nvPr/>
        </p:nvSpPr>
        <p:spPr>
          <a:xfrm>
            <a:off x="4663440" y="3794760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4: Reviews by Seat Type (Cabin Class)</a:t>
            </a:r>
            <a:endParaRPr lang="en-US" sz="900" b="1" dirty="0"/>
          </a:p>
        </p:txBody>
      </p:sp>
      <p:sp>
        <p:nvSpPr>
          <p:cNvPr id="11" name="Shape 7"/>
          <p:cNvSpPr/>
          <p:nvPr/>
        </p:nvSpPr>
        <p:spPr>
          <a:xfrm>
            <a:off x="320040" y="4133088"/>
            <a:ext cx="8503920" cy="2514600"/>
          </a:xfrm>
          <a:prstGeom prst="rect">
            <a:avLst/>
          </a:prstGeom>
          <a:solidFill>
            <a:srgbClr val="EAF2EA"/>
          </a:solidFill>
          <a:ln w="12700">
            <a:solidFill>
              <a:srgbClr val="5B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57200" y="4339481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— Addresses RQ2: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57200" y="4791456"/>
            <a:ext cx="822960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 Leisure (1,000) &amp; Solo Leisure (891) are most represented — skewing toward personal/vacation travelers</a:t>
            </a:r>
            <a:endParaRPr lang="en-US" sz="1100" dirty="0"/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Class dominates with 1,927 reviews (52.1%) — over double Business Class (1,198)</a:t>
            </a:r>
            <a:endParaRPr lang="en-US" sz="1100" dirty="0"/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Leisure has fewest reviews (398) — suggesting families are less likely to write reviews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4B896"/>
          </a:solidFill>
          <a:ln w="12700">
            <a:solidFill>
              <a:srgbClr val="D4B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164592"/>
            <a:ext cx="8814816" cy="6528816"/>
          </a:xfrm>
          <a:prstGeom prst="rect">
            <a:avLst/>
          </a:prstGeom>
          <a:solidFill>
            <a:srgbClr val="FAF6F0"/>
          </a:solidFill>
          <a:ln w="12700">
            <a:solidFill>
              <a:srgbClr val="FA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164592"/>
            <a:ext cx="8814816" cy="54864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292608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A5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 — Average Rating &amp; Sentiment by Seat Type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8503920" cy="22860"/>
          </a:xfrm>
          <a:prstGeom prst="rect">
            <a:avLst/>
          </a:prstGeom>
          <a:solidFill>
            <a:srgbClr val="5B8A5B"/>
          </a:solidFill>
          <a:ln w="12700">
            <a:solidFill>
              <a:srgbClr val="5B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user-data/uploads/1777673245628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14400"/>
            <a:ext cx="4160520" cy="2880360"/>
          </a:xfrm>
          <a:prstGeom prst="rect">
            <a:avLst/>
          </a:prstGeom>
        </p:spPr>
      </p:pic>
      <p:pic>
        <p:nvPicPr>
          <p:cNvPr id="8" name="Image 1" descr="/mnt/user-data/uploads/1777673250543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914400"/>
            <a:ext cx="4160520" cy="2880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0040" y="3794760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5: Average Rating by Seat Type</a:t>
            </a:r>
            <a:endParaRPr lang="en-US" sz="900" b="1" dirty="0"/>
          </a:p>
        </p:txBody>
      </p:sp>
      <p:sp>
        <p:nvSpPr>
          <p:cNvPr id="10" name="Text 6"/>
          <p:cNvSpPr/>
          <p:nvPr/>
        </p:nvSpPr>
        <p:spPr>
          <a:xfrm>
            <a:off x="4663440" y="3794760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6: Sentiment Distribution by Seat Type</a:t>
            </a:r>
            <a:endParaRPr lang="en-US" sz="900" b="1" dirty="0"/>
          </a:p>
        </p:txBody>
      </p:sp>
      <p:sp>
        <p:nvSpPr>
          <p:cNvPr id="11" name="Shape 7"/>
          <p:cNvSpPr/>
          <p:nvPr/>
        </p:nvSpPr>
        <p:spPr>
          <a:xfrm>
            <a:off x="320040" y="4160520"/>
            <a:ext cx="8503920" cy="2487168"/>
          </a:xfrm>
          <a:prstGeom prst="rect">
            <a:avLst/>
          </a:prstGeom>
          <a:solidFill>
            <a:srgbClr val="EAF2EA"/>
          </a:solidFill>
          <a:ln w="12700">
            <a:solidFill>
              <a:srgbClr val="5B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57200" y="4391515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— Addresses RQ2 &amp; RQ4: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57200" y="4978908"/>
            <a:ext cx="8229600" cy="15316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Class gives highest avg rating (~6); Economy Class lowest (~4.3) — clear class-based satisfaction gap</a:t>
            </a:r>
            <a:endParaRPr lang="en-US" sz="1100" dirty="0"/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Class has the highest proportion of Negative reviews — confirms seat class as a key dissatisfaction driver</a:t>
            </a:r>
            <a:endParaRPr lang="en-US" sz="1100" dirty="0"/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Class shows mixed results — some high satisfaction, but also significant negative feedback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4B896"/>
          </a:solidFill>
          <a:ln w="12700">
            <a:solidFill>
              <a:srgbClr val="D4B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164592"/>
            <a:ext cx="8814816" cy="6528816"/>
          </a:xfrm>
          <a:prstGeom prst="rect">
            <a:avLst/>
          </a:prstGeom>
          <a:solidFill>
            <a:srgbClr val="FAF6F0"/>
          </a:solidFill>
          <a:ln w="12700">
            <a:solidFill>
              <a:srgbClr val="FA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164592"/>
            <a:ext cx="8814816" cy="54864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292608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A5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 — Review Volume Over Time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8503920" cy="22860"/>
          </a:xfrm>
          <a:prstGeom prst="rect">
            <a:avLst/>
          </a:prstGeom>
          <a:solidFill>
            <a:srgbClr val="5B8A5B"/>
          </a:solidFill>
          <a:ln w="12700">
            <a:solidFill>
              <a:srgbClr val="5B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user-data/uploads/1777673259240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60120"/>
            <a:ext cx="7315200" cy="43891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53492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7: Number of Reviews Published Per Month Over Time</a:t>
            </a:r>
            <a:endParaRPr lang="en-US" sz="900" b="1" dirty="0"/>
          </a:p>
        </p:txBody>
      </p:sp>
      <p:sp>
        <p:nvSpPr>
          <p:cNvPr id="9" name="Shape 6"/>
          <p:cNvSpPr/>
          <p:nvPr/>
        </p:nvSpPr>
        <p:spPr>
          <a:xfrm>
            <a:off x="320040" y="5532120"/>
            <a:ext cx="8503920" cy="1097280"/>
          </a:xfrm>
          <a:prstGeom prst="rect">
            <a:avLst/>
          </a:prstGeom>
          <a:solidFill>
            <a:srgbClr val="EAF2EA"/>
          </a:solidFill>
          <a:ln w="12700">
            <a:solidFill>
              <a:srgbClr val="5B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7200" y="5623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5989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volume peaked around 2014–2015, then declined significantly around 2020 — likely reflecting COVID-19 travel disruptions</a:t>
            </a:r>
            <a:endParaRPr lang="en-US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Post-2021 volume remains lower than pre-pandemic levels — fewer flights = fewer reviews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4B896"/>
          </a:solidFill>
          <a:ln w="12700">
            <a:solidFill>
              <a:srgbClr val="D4B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164592"/>
            <a:ext cx="8814816" cy="6528816"/>
          </a:xfrm>
          <a:prstGeom prst="rect">
            <a:avLst/>
          </a:prstGeom>
          <a:solidFill>
            <a:srgbClr val="FAF6F0"/>
          </a:solidFill>
          <a:ln w="12700">
            <a:solidFill>
              <a:srgbClr val="FA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164592"/>
            <a:ext cx="8814816" cy="54864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292608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A5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 Analysis — Word Clouds by Sentiment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8503920" cy="22860"/>
          </a:xfrm>
          <a:prstGeom prst="rect">
            <a:avLst/>
          </a:prstGeom>
          <a:solidFill>
            <a:srgbClr val="5B8A5B"/>
          </a:solidFill>
          <a:ln w="12700">
            <a:solidFill>
              <a:srgbClr val="5B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user-data/uploads/1777673265674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60120"/>
            <a:ext cx="2743200" cy="2148840"/>
          </a:xfrm>
          <a:prstGeom prst="rect">
            <a:avLst/>
          </a:prstGeom>
        </p:spPr>
      </p:pic>
      <p:pic>
        <p:nvPicPr>
          <p:cNvPr id="8" name="Image 1" descr="/mnt/user-data/uploads/1777673275022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960120"/>
            <a:ext cx="2743200" cy="2148840"/>
          </a:xfrm>
          <a:prstGeom prst="rect">
            <a:avLst/>
          </a:prstGeom>
        </p:spPr>
      </p:pic>
      <p:pic>
        <p:nvPicPr>
          <p:cNvPr id="9" name="Image 2" descr="/mnt/user-data/uploads/1777673282837_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960120"/>
            <a:ext cx="2743200" cy="2148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20040" y="31089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Reviews</a:t>
            </a:r>
            <a:endParaRPr lang="en-US" sz="900" b="1" dirty="0"/>
          </a:p>
        </p:txBody>
      </p:sp>
      <p:sp>
        <p:nvSpPr>
          <p:cNvPr id="11" name="Text 6"/>
          <p:cNvSpPr/>
          <p:nvPr/>
        </p:nvSpPr>
        <p:spPr>
          <a:xfrm>
            <a:off x="3200400" y="31089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Reviews (Rating 7–10)</a:t>
            </a:r>
            <a:endParaRPr lang="en-US" sz="900" b="1" dirty="0"/>
          </a:p>
        </p:txBody>
      </p:sp>
      <p:sp>
        <p:nvSpPr>
          <p:cNvPr id="12" name="Text 7"/>
          <p:cNvSpPr/>
          <p:nvPr/>
        </p:nvSpPr>
        <p:spPr>
          <a:xfrm>
            <a:off x="6080760" y="31089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Reviews (Rating 1–4)</a:t>
            </a:r>
            <a:endParaRPr lang="en-US" sz="900" b="1" dirty="0"/>
          </a:p>
        </p:txBody>
      </p:sp>
      <p:sp>
        <p:nvSpPr>
          <p:cNvPr id="13" name="Shape 8"/>
          <p:cNvSpPr/>
          <p:nvPr/>
        </p:nvSpPr>
        <p:spPr>
          <a:xfrm>
            <a:off x="328749" y="3720736"/>
            <a:ext cx="8503920" cy="2890376"/>
          </a:xfrm>
          <a:prstGeom prst="rect">
            <a:avLst/>
          </a:prstGeom>
          <a:solidFill>
            <a:srgbClr val="EAF2EA"/>
          </a:solidFill>
          <a:ln w="12700">
            <a:solidFill>
              <a:srgbClr val="5B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457200" y="375099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— Addresses RQ4: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57200" y="4258490"/>
            <a:ext cx="8229600" cy="2215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reviews: 'excellent,' 'comfortable,' 'friendly,' 'crew,' 'food' — staff and comfort are praised most</a:t>
            </a:r>
            <a:endParaRPr lang="en-US" sz="1100" dirty="0"/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reviews: 'poor,' 'delay,' 'told,' 'cancelled,' 'class,' 'boarding' — delays and economy experience dominate</a:t>
            </a:r>
            <a:endParaRPr lang="en-US" sz="1100" dirty="0"/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sets share 'seat,' 'service,' 'staff' — these are the core dimensions passengers evaluate regardless of sentiment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4B896"/>
          </a:solidFill>
          <a:ln w="12700">
            <a:solidFill>
              <a:srgbClr val="D4B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164592"/>
            <a:ext cx="8814816" cy="6528816"/>
          </a:xfrm>
          <a:prstGeom prst="rect">
            <a:avLst/>
          </a:prstGeom>
          <a:solidFill>
            <a:srgbClr val="FAF6F0"/>
          </a:solidFill>
          <a:ln w="12700">
            <a:solidFill>
              <a:srgbClr val="FA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164592"/>
            <a:ext cx="8814816" cy="54864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292608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A5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 Analysis — Bigrams &amp; Top Words by Seat Type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8503920" cy="22860"/>
          </a:xfrm>
          <a:prstGeom prst="rect">
            <a:avLst/>
          </a:prstGeom>
          <a:solidFill>
            <a:srgbClr val="5B8A5B"/>
          </a:solidFill>
          <a:ln w="12700">
            <a:solidFill>
              <a:srgbClr val="5B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user-data/uploads/177767330014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14400"/>
            <a:ext cx="4343400" cy="5623560"/>
          </a:xfrm>
          <a:prstGeom prst="rect">
            <a:avLst/>
          </a:prstGeom>
        </p:spPr>
      </p:pic>
      <p:pic>
        <p:nvPicPr>
          <p:cNvPr id="8" name="Image 1" descr="/mnt/user-data/uploads/1777673292102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914400"/>
            <a:ext cx="4023360" cy="56235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0040" y="6537960"/>
            <a:ext cx="4343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10: Most Common Bigrams in BA Reviews</a:t>
            </a:r>
            <a:endParaRPr lang="en-US" sz="900" b="1" dirty="0"/>
          </a:p>
        </p:txBody>
      </p:sp>
      <p:sp>
        <p:nvSpPr>
          <p:cNvPr id="10" name="Text 6"/>
          <p:cNvSpPr/>
          <p:nvPr/>
        </p:nvSpPr>
        <p:spPr>
          <a:xfrm>
            <a:off x="4800600" y="653796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9: Top Words by Seat Type</a:t>
            </a:r>
            <a:endParaRPr lang="en-US" sz="9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4B896"/>
          </a:solidFill>
          <a:ln w="12700">
            <a:solidFill>
              <a:srgbClr val="D4B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164592"/>
            <a:ext cx="8814816" cy="6528816"/>
          </a:xfrm>
          <a:prstGeom prst="rect">
            <a:avLst/>
          </a:prstGeom>
          <a:solidFill>
            <a:srgbClr val="FAF6F0"/>
          </a:solidFill>
          <a:ln w="12700">
            <a:solidFill>
              <a:srgbClr val="FA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164592"/>
            <a:ext cx="8814816" cy="54864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292608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A5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 Mining Methods Applied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8503920" cy="22860"/>
          </a:xfrm>
          <a:prstGeom prst="rect">
            <a:avLst/>
          </a:prstGeom>
          <a:solidFill>
            <a:srgbClr val="5B8A5B"/>
          </a:solidFill>
          <a:ln w="12700">
            <a:solidFill>
              <a:srgbClr val="5B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201168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2011680" cy="594360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9601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1480" y="16459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5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Naive Bayes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A5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42316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classifier based on Bayes' Theorem. Binary DTM representation + Laplace smoothing.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4617720"/>
            <a:ext cx="1828800" cy="347472"/>
          </a:xfrm>
          <a:prstGeom prst="rect">
            <a:avLst/>
          </a:prstGeom>
          <a:solidFill>
            <a:srgbClr val="EAF2EA"/>
          </a:solidFill>
          <a:ln w="6350">
            <a:solidFill>
              <a:srgbClr val="5B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46177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Addresses: RQ5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5047488"/>
            <a:ext cx="1828800" cy="320040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50474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87168" y="960120"/>
            <a:ext cx="201168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487168" y="960120"/>
            <a:ext cx="2011680" cy="594360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487168" y="9601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578608" y="16459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5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K-Nearest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A5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Neighbors (KNN)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78608" y="242316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Instance-based classifier using Euclidean distance. k=5 initial, cross-validation to find best k.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78608" y="4617720"/>
            <a:ext cx="1828800" cy="347472"/>
          </a:xfrm>
          <a:prstGeom prst="rect">
            <a:avLst/>
          </a:prstGeom>
          <a:solidFill>
            <a:srgbClr val="EAF2EA"/>
          </a:solidFill>
          <a:ln w="6350">
            <a:solidFill>
              <a:srgbClr val="5B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578608" y="46177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Addresses: RQ5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78608" y="5047488"/>
            <a:ext cx="1828800" cy="320040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578608" y="50474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54296" y="960120"/>
            <a:ext cx="201168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54296" y="960120"/>
            <a:ext cx="2011680" cy="594360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54296" y="9601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745736" y="16459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5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Lexicon-Based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A5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Sentiment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45736" y="242316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Bing, AFINN, NRC dictionaries applied to tokenized words. No labeled training data required.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45736" y="4617720"/>
            <a:ext cx="1828800" cy="347472"/>
          </a:xfrm>
          <a:prstGeom prst="rect">
            <a:avLst/>
          </a:prstGeom>
          <a:solidFill>
            <a:srgbClr val="EAF2EA"/>
          </a:solidFill>
          <a:ln w="6350">
            <a:solidFill>
              <a:srgbClr val="5B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45736" y="46177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Addresses: RQ3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45736" y="5047488"/>
            <a:ext cx="1828800" cy="320040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45736" y="50474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21424" y="960120"/>
            <a:ext cx="201168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821424" y="960120"/>
            <a:ext cx="2011680" cy="594360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821424" y="9601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912864" y="16459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5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LDA Topic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A5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Modeling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12864" y="2423160"/>
            <a:ext cx="1828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probabilistic model. k=3 topics trained on DTM. Top terms per topic extracted &amp; interpreted.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912864" y="4617720"/>
            <a:ext cx="1828800" cy="347472"/>
          </a:xfrm>
          <a:prstGeom prst="rect">
            <a:avLst/>
          </a:prstGeom>
          <a:solidFill>
            <a:srgbClr val="EAF2EA"/>
          </a:solidFill>
          <a:ln w="6350">
            <a:solidFill>
              <a:srgbClr val="5B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912864" y="46177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Addresses: RQ1, RQ4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912864" y="5047488"/>
            <a:ext cx="1828800" cy="320040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912864" y="50474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4B896"/>
          </a:solidFill>
          <a:ln w="12700">
            <a:solidFill>
              <a:srgbClr val="D4B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164592"/>
            <a:ext cx="8814816" cy="6528816"/>
          </a:xfrm>
          <a:prstGeom prst="rect">
            <a:avLst/>
          </a:prstGeom>
          <a:solidFill>
            <a:srgbClr val="FAF6F0"/>
          </a:solidFill>
          <a:ln w="12700">
            <a:solidFill>
              <a:srgbClr val="FA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164592"/>
            <a:ext cx="8814816" cy="54864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292608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A5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Document-Term Matrix (DTM) — Foundation for All Models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8503920" cy="22860"/>
          </a:xfrm>
          <a:prstGeom prst="rect">
            <a:avLst/>
          </a:prstGeom>
          <a:solidFill>
            <a:srgbClr val="5B8A5B"/>
          </a:solidFill>
          <a:ln w="12700">
            <a:solidFill>
              <a:srgbClr val="5B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user-data/uploads/1777673627999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60120"/>
            <a:ext cx="8046720" cy="3200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416052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1a: Sample of DTM — 3,701 documents × 14,218 terms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0040" y="4434840"/>
            <a:ext cx="8503920" cy="2194560"/>
          </a:xfrm>
          <a:prstGeom prst="rect">
            <a:avLst/>
          </a:prstGeom>
          <a:solidFill>
            <a:srgbClr val="EAF2EA"/>
          </a:solidFill>
          <a:ln w="12700">
            <a:solidFill>
              <a:srgbClr val="5B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DTM tells us: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892040"/>
            <a:ext cx="82296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3,701 documents (reviews) × 14,218 unique terms after stopword removal</a:t>
            </a:r>
            <a:endParaRPr lang="en-US" sz="1100" dirty="0"/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 = 100% — most reviews only contain a small subset of all terms (expected for text data)</a:t>
            </a:r>
            <a:endParaRPr lang="en-US" sz="1100" dirty="0"/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terms removed before modeling to reduce noise and improve classifier performance</a:t>
            </a:r>
            <a:endParaRPr lang="en-US" sz="1100" dirty="0"/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frequency (tf) weighting used — each cell shows how many times a word appears in that review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4B896"/>
          </a:solidFill>
          <a:ln w="12700">
            <a:solidFill>
              <a:srgbClr val="D4B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164592"/>
            <a:ext cx="8814816" cy="6528816"/>
          </a:xfrm>
          <a:prstGeom prst="rect">
            <a:avLst/>
          </a:prstGeom>
          <a:solidFill>
            <a:srgbClr val="FAF6F0"/>
          </a:solidFill>
          <a:ln w="12700">
            <a:solidFill>
              <a:srgbClr val="FA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164592"/>
            <a:ext cx="8814816" cy="54864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292608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A5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— Naive Bayes Classification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8503920" cy="22860"/>
          </a:xfrm>
          <a:prstGeom prst="rect">
            <a:avLst/>
          </a:prstGeom>
          <a:solidFill>
            <a:srgbClr val="5B8A5B"/>
          </a:solidFill>
          <a:ln w="12700">
            <a:solidFill>
              <a:srgbClr val="5B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RQ5: Can review text predict customer satisfaction?</a:t>
            </a:r>
            <a:endParaRPr lang="en-US" sz="1100" dirty="0"/>
          </a:p>
        </p:txBody>
      </p:sp>
      <p:pic>
        <p:nvPicPr>
          <p:cNvPr id="8" name="Image 0" descr="/mnt/user-data/uploads/1777673640247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05840"/>
            <a:ext cx="5212080" cy="4846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5833872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1b: Naive Bayes Confusion Matrix (top: standard, bottom: Laplace smoothing)</a:t>
            </a:r>
            <a:endParaRPr lang="en-US" sz="900" b="1" dirty="0"/>
          </a:p>
        </p:txBody>
      </p:sp>
      <p:sp>
        <p:nvSpPr>
          <p:cNvPr id="10" name="Shape 7"/>
          <p:cNvSpPr/>
          <p:nvPr/>
        </p:nvSpPr>
        <p:spPr>
          <a:xfrm>
            <a:off x="5715000" y="1005840"/>
            <a:ext cx="3108960" cy="4846320"/>
          </a:xfrm>
          <a:prstGeom prst="rect">
            <a:avLst/>
          </a:prstGeom>
          <a:solidFill>
            <a:srgbClr val="EAF2EA"/>
          </a:solidFill>
          <a:ln w="12700">
            <a:solidFill>
              <a:srgbClr val="5B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806440" y="1097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5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Performance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806440" y="1554480"/>
            <a:ext cx="2926080" cy="822960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806440" y="15544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66.4%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Overall Accuracy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806440" y="2514600"/>
            <a:ext cx="29260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897880" y="2587752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class: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903720" y="258775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85.6% recall (327/382) 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806440" y="3154680"/>
            <a:ext cx="292608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897880" y="3227832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class: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903720" y="322783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54.7% recall (135/247)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806440" y="3794760"/>
            <a:ext cx="29260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897880" y="3867912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class: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903720" y="386791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27.0% recall — hardest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806440" y="4434840"/>
            <a:ext cx="292608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897880" y="4507992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Laplace model: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903720" y="450799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Collapsed to Neutral — not useful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806440" y="5074920"/>
            <a:ext cx="29260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897880" y="5148072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903720" y="514807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CAN predict satisfaction for strong positive/negative cases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4B896"/>
          </a:solidFill>
          <a:ln w="12700">
            <a:solidFill>
              <a:srgbClr val="D4B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164592"/>
            <a:ext cx="8814816" cy="6528816"/>
          </a:xfrm>
          <a:prstGeom prst="rect">
            <a:avLst/>
          </a:prstGeom>
          <a:solidFill>
            <a:srgbClr val="FAF6F0"/>
          </a:solidFill>
          <a:ln w="12700">
            <a:solidFill>
              <a:srgbClr val="FA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164592"/>
            <a:ext cx="8814816" cy="54864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292608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A5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— KNN Classification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8503920" cy="22860"/>
          </a:xfrm>
          <a:prstGeom prst="rect">
            <a:avLst/>
          </a:prstGeom>
          <a:solidFill>
            <a:srgbClr val="5B8A5B"/>
          </a:solidFill>
          <a:ln w="12700">
            <a:solidFill>
              <a:srgbClr val="5B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RQ5: Comparative classification performance</a:t>
            </a:r>
            <a:endParaRPr lang="en-US" sz="1100" dirty="0"/>
          </a:p>
        </p:txBody>
      </p:sp>
      <p:pic>
        <p:nvPicPr>
          <p:cNvPr id="8" name="Image 0" descr="/mnt/user-data/uploads/1777673652299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60120"/>
            <a:ext cx="4206240" cy="2011680"/>
          </a:xfrm>
          <a:prstGeom prst="rect">
            <a:avLst/>
          </a:prstGeom>
        </p:spPr>
      </p:pic>
      <p:pic>
        <p:nvPicPr>
          <p:cNvPr id="9" name="Image 1" descr="/mnt/user-data/uploads/1777673664473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108960"/>
            <a:ext cx="4206240" cy="3200400"/>
          </a:xfrm>
          <a:prstGeom prst="rect">
            <a:avLst/>
          </a:prstGeom>
        </p:spPr>
      </p:pic>
      <p:pic>
        <p:nvPicPr>
          <p:cNvPr id="10" name="Image 2" descr="/mnt/user-data/uploads/1777673676082_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960120"/>
            <a:ext cx="4160520" cy="20116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20040" y="299923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2a: KNN Confusion Matrix (k=5) — 59.62% accuracy</a:t>
            </a:r>
            <a:endParaRPr lang="en-US" sz="900" b="1" dirty="0"/>
          </a:p>
        </p:txBody>
      </p:sp>
      <p:sp>
        <p:nvSpPr>
          <p:cNvPr id="12" name="Text 7"/>
          <p:cNvSpPr/>
          <p:nvPr/>
        </p:nvSpPr>
        <p:spPr>
          <a:xfrm>
            <a:off x="320040" y="630936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2b: KNN Accuracy by k Value (cross-validation)</a:t>
            </a:r>
            <a:endParaRPr lang="en-US" sz="900" b="1" dirty="0"/>
          </a:p>
        </p:txBody>
      </p:sp>
      <p:sp>
        <p:nvSpPr>
          <p:cNvPr id="13" name="Text 8"/>
          <p:cNvSpPr/>
          <p:nvPr/>
        </p:nvSpPr>
        <p:spPr>
          <a:xfrm>
            <a:off x="4663440" y="2999232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2c: Best Model Confusion Matrix</a:t>
            </a:r>
            <a:endParaRPr lang="en-US" sz="900" b="1" dirty="0"/>
          </a:p>
        </p:txBody>
      </p:sp>
      <p:sp>
        <p:nvSpPr>
          <p:cNvPr id="14" name="Shape 9"/>
          <p:cNvSpPr/>
          <p:nvPr/>
        </p:nvSpPr>
        <p:spPr>
          <a:xfrm>
            <a:off x="4663440" y="3200400"/>
            <a:ext cx="4160520" cy="3108960"/>
          </a:xfrm>
          <a:prstGeom prst="rect">
            <a:avLst/>
          </a:prstGeom>
          <a:solidFill>
            <a:srgbClr val="EAF2EA"/>
          </a:solidFill>
          <a:ln w="12700">
            <a:solidFill>
              <a:srgbClr val="5B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4754880" y="329184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5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Findings: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754880" y="3749040"/>
            <a:ext cx="397764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 selected as initial benchmark (standard starting value for text datasets)</a:t>
            </a:r>
            <a:endParaRPr lang="en-US" sz="1000" dirty="0"/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tested k=1 to 30 — accuracy peaked near k=3 (~56.5%)</a:t>
            </a:r>
            <a:endParaRPr lang="en-US" sz="1000" dirty="0"/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High-dimensional DTM (14,218 terms) hurts KNN — sparse space weakens distance metrics</a:t>
            </a:r>
            <a:endParaRPr lang="en-US" sz="1000" dirty="0"/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class almost entirely misclassified (2/87 correct)</a:t>
            </a:r>
            <a:endParaRPr lang="en-US" sz="1000" dirty="0"/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(66.4%) outperforms KNN (59.62%) on this task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4B896"/>
          </a:solidFill>
          <a:ln w="12700">
            <a:solidFill>
              <a:srgbClr val="D4B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164592"/>
            <a:ext cx="8814816" cy="6528816"/>
          </a:xfrm>
          <a:prstGeom prst="rect">
            <a:avLst/>
          </a:prstGeom>
          <a:solidFill>
            <a:srgbClr val="FAF6F0"/>
          </a:solidFill>
          <a:ln w="12700">
            <a:solidFill>
              <a:srgbClr val="FA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164592"/>
            <a:ext cx="8814816" cy="54864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292608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A5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— Lexicon-Based Sentiment Analysis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8503920" cy="22860"/>
          </a:xfrm>
          <a:prstGeom prst="rect">
            <a:avLst/>
          </a:prstGeom>
          <a:solidFill>
            <a:srgbClr val="5B8A5B"/>
          </a:solidFill>
          <a:ln w="12700">
            <a:solidFill>
              <a:srgbClr val="5B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RQ3: How does textual sentiment relate to numerical ratings?</a:t>
            </a:r>
            <a:endParaRPr lang="en-US" sz="1100" dirty="0"/>
          </a:p>
        </p:txBody>
      </p:sp>
      <p:pic>
        <p:nvPicPr>
          <p:cNvPr id="8" name="Image 0" descr="/mnt/user-data/uploads/1777673682877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60120"/>
            <a:ext cx="3840480" cy="2926080"/>
          </a:xfrm>
          <a:prstGeom prst="rect">
            <a:avLst/>
          </a:prstGeom>
        </p:spPr>
      </p:pic>
      <p:pic>
        <p:nvPicPr>
          <p:cNvPr id="9" name="Image 1" descr="/mnt/user-data/uploads/1777673689809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960120"/>
            <a:ext cx="4572000" cy="2926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0040" y="38862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3a: Word Cloud — Most Frequent Terms</a:t>
            </a:r>
            <a:endParaRPr lang="en-US" sz="900" b="1" dirty="0"/>
          </a:p>
        </p:txBody>
      </p:sp>
      <p:sp>
        <p:nvSpPr>
          <p:cNvPr id="11" name="Text 7"/>
          <p:cNvSpPr/>
          <p:nvPr/>
        </p:nvSpPr>
        <p:spPr>
          <a:xfrm>
            <a:off x="4297680" y="388620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3b: Sentiment Comparison — AFINN / Bing / NRC</a:t>
            </a:r>
            <a:endParaRPr lang="en-US" sz="900" b="1" dirty="0"/>
          </a:p>
        </p:txBody>
      </p:sp>
      <p:sp>
        <p:nvSpPr>
          <p:cNvPr id="12" name="Shape 8"/>
          <p:cNvSpPr/>
          <p:nvPr/>
        </p:nvSpPr>
        <p:spPr>
          <a:xfrm>
            <a:off x="320040" y="4160520"/>
            <a:ext cx="8503920" cy="2560320"/>
          </a:xfrm>
          <a:prstGeom prst="rect">
            <a:avLst/>
          </a:prstGeom>
          <a:solidFill>
            <a:srgbClr val="EAF2EA"/>
          </a:solidFill>
          <a:ln w="12700">
            <a:solidFill>
              <a:srgbClr val="5B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— Addresses RQ3 &amp; RQ4: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57200" y="4617720"/>
            <a:ext cx="82296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AFINN &amp; Bing: majority of reviews carry net negative sentiment — consistent with 45.8% of ratings being 1–3</a:t>
            </a:r>
            <a:endParaRPr lang="en-US" sz="1100" dirty="0"/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ratings (1–4) → negative AFINN/Bing scores  |  High ratings (7–10) → positive scores </a:t>
            </a:r>
            <a:endParaRPr lang="en-US" sz="1100" dirty="0"/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Mid-range ratings (5–6): mixed language — explains why Neutral class is hardest for all classifiers</a:t>
            </a:r>
            <a:endParaRPr lang="en-US" sz="1100" dirty="0"/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NRC emotions: 'anger' and 'disgust' cluster in delay-related reviews; 'trust' and 'joy' in Business Class reviews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4B896"/>
          </a:solidFill>
          <a:ln w="12700">
            <a:solidFill>
              <a:srgbClr val="D4B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164592"/>
            <a:ext cx="8814816" cy="6528816"/>
          </a:xfrm>
          <a:prstGeom prst="rect">
            <a:avLst/>
          </a:prstGeom>
          <a:solidFill>
            <a:srgbClr val="FAF6F0"/>
          </a:solidFill>
          <a:ln w="12700">
            <a:solidFill>
              <a:srgbClr val="FA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164592"/>
            <a:ext cx="8814816" cy="54864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292608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A5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— LDA Topic Modeling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8503920" cy="22860"/>
          </a:xfrm>
          <a:prstGeom prst="rect">
            <a:avLst/>
          </a:prstGeom>
          <a:solidFill>
            <a:srgbClr val="5B8A5B"/>
          </a:solidFill>
          <a:ln w="12700">
            <a:solidFill>
              <a:srgbClr val="5B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RQ1 &amp; RQ4: What are the dominant themes? What drives negative feedback?</a:t>
            </a:r>
            <a:endParaRPr lang="en-US" sz="1100" dirty="0"/>
          </a:p>
        </p:txBody>
      </p:sp>
      <p:pic>
        <p:nvPicPr>
          <p:cNvPr id="8" name="Image 0" descr="/mnt/user-data/uploads/1777673700220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28184"/>
            <a:ext cx="5074920" cy="534401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33756" y="6300216"/>
            <a:ext cx="5074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4: Top Terms per Topic (LDA, k=3 topics)</a:t>
            </a:r>
            <a:endParaRPr lang="en-US" sz="900" b="1" dirty="0"/>
          </a:p>
        </p:txBody>
      </p:sp>
      <p:sp>
        <p:nvSpPr>
          <p:cNvPr id="10" name="Shape 7"/>
          <p:cNvSpPr/>
          <p:nvPr/>
        </p:nvSpPr>
        <p:spPr>
          <a:xfrm>
            <a:off x="5577840" y="960120"/>
            <a:ext cx="32461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577840" y="960120"/>
            <a:ext cx="3246120" cy="54864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577840" y="960120"/>
            <a:ext cx="731520" cy="1691640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577840" y="960120"/>
            <a:ext cx="731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Topic 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0" y="10515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Overall, Flight Experience &amp; Service Quality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00800" y="155448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flight, good, service, food, seat, staff, crew, first, business, time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577840" y="2834640"/>
            <a:ext cx="32461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577840" y="2834640"/>
            <a:ext cx="3246120" cy="54864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577840" y="2834640"/>
            <a:ext cx="731520" cy="1691640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577840" y="2834640"/>
            <a:ext cx="731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Topic 2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00800" y="29260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Operations &amp; Business Class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400800" y="342900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flight, london, crew, cabin, airways, club, british, seats, business, airline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577840" y="4709160"/>
            <a:ext cx="32461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577840" y="4709160"/>
            <a:ext cx="3246120" cy="54864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577840" y="4709160"/>
            <a:ext cx="731520" cy="1691640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577840" y="4709160"/>
            <a:ext cx="731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Topic 3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400800" y="48006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Airport, Seating &amp; Travel Time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400800" y="530352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flight, class, british, seat, food, service, time, seats, heathrow, airways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577840" y="6583680"/>
            <a:ext cx="3246120" cy="0"/>
          </a:xfrm>
          <a:prstGeom prst="rect">
            <a:avLst/>
          </a:prstGeom>
          <a:solidFill>
            <a:srgbClr val="EAF2EA"/>
          </a:solidFill>
          <a:ln w="12700">
            <a:solidFill>
              <a:srgbClr val="5B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5577840" y="5742432"/>
            <a:ext cx="3246120" cy="822960"/>
          </a:xfrm>
          <a:prstGeom prst="rect">
            <a:avLst/>
          </a:prstGeom>
          <a:solidFill>
            <a:srgbClr val="EAF2EA"/>
          </a:solidFill>
          <a:ln w="12700">
            <a:solidFill>
              <a:srgbClr val="5B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669280" y="578815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'Heathrow' in Topic 3 = airport experience is a distinct complaint driver → directly answers RQ4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4B896"/>
          </a:solidFill>
          <a:ln w="12700">
            <a:solidFill>
              <a:srgbClr val="D4B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164592"/>
            <a:ext cx="8814816" cy="6528816"/>
          </a:xfrm>
          <a:prstGeom prst="rect">
            <a:avLst/>
          </a:prstGeom>
          <a:solidFill>
            <a:srgbClr val="FAF6F0"/>
          </a:solidFill>
          <a:ln w="12700">
            <a:solidFill>
              <a:srgbClr val="FA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164592"/>
            <a:ext cx="8814816" cy="54864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20116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A5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of Findings — All Research Questions Answered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8503920" cy="22860"/>
          </a:xfrm>
          <a:prstGeom prst="rect">
            <a:avLst/>
          </a:prstGeom>
          <a:solidFill>
            <a:srgbClr val="5B8A5B"/>
          </a:solidFill>
          <a:ln w="12700">
            <a:solidFill>
              <a:srgbClr val="5B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8503920" cy="868680"/>
          </a:xfrm>
          <a:prstGeom prst="rect">
            <a:avLst/>
          </a:prstGeom>
          <a:solidFill>
            <a:srgbClr val="EAF2E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822960" cy="868680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96012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111556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dominant themes via LDA: Service Quality, Business Class Operations, Airport/Economy Experience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874520"/>
            <a:ext cx="8503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" y="1874520"/>
            <a:ext cx="822960" cy="868680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187452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202996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class passengers have highest proportion of negative reviews; First/Business class are more satisfied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788920"/>
            <a:ext cx="8503920" cy="868680"/>
          </a:xfrm>
          <a:prstGeom prst="rect">
            <a:avLst/>
          </a:prstGeom>
          <a:solidFill>
            <a:srgbClr val="EAF2E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2788920"/>
            <a:ext cx="822960" cy="868680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278892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294436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Textual sentiment (AFINN/Bing) broadly aligns with ratings; misalignment highest for mid-range (5–6) Neutral reviews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703320"/>
            <a:ext cx="8503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" y="3703320"/>
            <a:ext cx="822960" cy="868680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370332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385876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negative drivers: delays, staff behavior, seat comfort, and Heathrow airport experience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4617720"/>
            <a:ext cx="8503920" cy="868680"/>
          </a:xfrm>
          <a:prstGeom prst="rect">
            <a:avLst/>
          </a:prstGeom>
          <a:solidFill>
            <a:srgbClr val="EAF2E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0040" y="4617720"/>
            <a:ext cx="822960" cy="868680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461772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34440" y="477316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(66.4%) and KNN (59.62%) both confirm review text can predict sentiment — especially for extreme cases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4B896"/>
          </a:solidFill>
          <a:ln w="12700">
            <a:solidFill>
              <a:srgbClr val="D4B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164592"/>
            <a:ext cx="8814816" cy="6528816"/>
          </a:xfrm>
          <a:prstGeom prst="rect">
            <a:avLst/>
          </a:prstGeom>
          <a:solidFill>
            <a:srgbClr val="FAF6F0"/>
          </a:solidFill>
          <a:ln w="12700">
            <a:solidFill>
              <a:srgbClr val="FA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164592"/>
            <a:ext cx="8814816" cy="54864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292608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A5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 &amp; Real-World Applications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8503920" cy="22860"/>
          </a:xfrm>
          <a:prstGeom prst="rect">
            <a:avLst/>
          </a:prstGeom>
          <a:solidFill>
            <a:srgbClr val="5B8A5B"/>
          </a:solidFill>
          <a:ln w="12700">
            <a:solidFill>
              <a:srgbClr val="5B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4160520" cy="5669280"/>
          </a:xfrm>
          <a:prstGeom prst="rect">
            <a:avLst/>
          </a:prstGeom>
          <a:solidFill>
            <a:srgbClr val="EAF2EA"/>
          </a:solidFill>
          <a:ln w="12700">
            <a:solidFill>
              <a:srgbClr val="5B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0058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5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Applications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463040"/>
            <a:ext cx="39776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Auto-classify incoming reviews by sentiment → route to the right service team in real time</a:t>
            </a:r>
            <a:endParaRPr lang="en-US" sz="1100" dirty="0"/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sentiment trends after service changes to measure improvement</a:t>
            </a:r>
            <a:endParaRPr lang="en-US" sz="1100" dirty="0"/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high-priority negative reviews for executive attention</a:t>
            </a:r>
            <a:endParaRPr lang="en-US" sz="1100" dirty="0"/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Class identified as top investment priority for satisfaction improvement</a:t>
            </a:r>
            <a:endParaRPr lang="en-US" sz="1100" dirty="0"/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Heathrow-specific complaints → target airport partnership improvements</a:t>
            </a:r>
            <a:endParaRPr lang="en-US" sz="1100" dirty="0"/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Mid-range (Neutral) customers represent a conversion opportunity with targeted follow-up</a:t>
            </a:r>
            <a:endParaRPr lang="en-US" sz="1100" dirty="0"/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pipeline scales to any airline — not just British Airways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4160520" cy="56692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10058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5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Future Work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463040"/>
            <a:ext cx="39776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Bag-of-words ignores word order, context, sarcasm, and negation</a:t>
            </a:r>
            <a:endParaRPr lang="en-US" sz="1100" dirty="0"/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class underrepresented (11.6%) → class imbalance hurts all classifiers</a:t>
            </a:r>
            <a:endParaRPr lang="en-US" sz="1100" dirty="0"/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lexicons miss airline-specific language nuances</a:t>
            </a:r>
            <a:endParaRPr lang="en-US" sz="1100" dirty="0"/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TF-IDF weighting to improve classifier performance</a:t>
            </a:r>
            <a:endParaRPr lang="en-US" sz="1100" dirty="0"/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BERT/Word2Vec embeddings for semantic understanding</a:t>
            </a:r>
            <a:endParaRPr lang="en-US" sz="1100" dirty="0"/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SMOTE oversampling to address class imbalance</a:t>
            </a:r>
            <a:endParaRPr lang="en-US" sz="1100" dirty="0"/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Multi-airline comparison (Delta, United, Ryanair) to generalize findings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4B896"/>
          </a:solidFill>
          <a:ln w="12700">
            <a:solidFill>
              <a:srgbClr val="D4B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164592"/>
            <a:ext cx="8814816" cy="6528816"/>
          </a:xfrm>
          <a:prstGeom prst="rect">
            <a:avLst/>
          </a:prstGeom>
          <a:solidFill>
            <a:srgbClr val="FAF6F0"/>
          </a:solidFill>
          <a:ln w="12700">
            <a:solidFill>
              <a:srgbClr val="FA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164592"/>
            <a:ext cx="8814816" cy="54864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292608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A5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8503920" cy="22860"/>
          </a:xfrm>
          <a:prstGeom prst="rect">
            <a:avLst/>
          </a:prstGeom>
          <a:solidFill>
            <a:srgbClr val="5B8A5B"/>
          </a:solidFill>
          <a:ln w="12700">
            <a:solidFill>
              <a:srgbClr val="5B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850392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 complete text analytics pipeline to 3,701 British Airways customer reviews in R — from raw text to actionable insights</a:t>
            </a:r>
            <a:endParaRPr lang="en-US" sz="1200" dirty="0"/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topic modeling (k=3) identified 3 key themes: service quality, business class operations, and airport/economy experience — directly answering RQ1</a:t>
            </a:r>
            <a:endParaRPr lang="en-US" sz="1200" dirty="0"/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Lexicon-based sentiment analysis (AFINN/Bing/NRC) confirmed textual sentiment broadly aligns with numerical ratings — answering RQ3</a:t>
            </a:r>
            <a:endParaRPr lang="en-US" sz="1200" dirty="0"/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achieved 66.4% accuracy; KNN achieved 59.62% — both demonstrating automated sentiment prediction from review text is feasible — answering RQ5</a:t>
            </a:r>
            <a:endParaRPr lang="en-US" sz="1200" dirty="0"/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Class passengers and Heathrow airport are the primary drivers of negative feedback — answering RQ2 &amp; RQ4</a:t>
            </a:r>
            <a:endParaRPr lang="en-US" sz="1200" dirty="0"/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review text contains richer insights than star ratings alone — airlines can use this pipeline to monitor satisfaction at scale and make data-driven service improvements</a:t>
            </a:r>
            <a:endParaRPr lang="en-US" sz="1200" dirty="0"/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deep learning models (BERT), larger multi-airline datasets, class balancing techniques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4B896"/>
          </a:solidFill>
          <a:ln w="12700">
            <a:solidFill>
              <a:srgbClr val="D4B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164592"/>
            <a:ext cx="8814816" cy="6528816"/>
          </a:xfrm>
          <a:prstGeom prst="rect">
            <a:avLst/>
          </a:prstGeom>
          <a:solidFill>
            <a:srgbClr val="FAF6F0"/>
          </a:solidFill>
          <a:ln w="12700">
            <a:solidFill>
              <a:srgbClr val="FAF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164592"/>
            <a:ext cx="8814816" cy="54864"/>
          </a:xfrm>
          <a:prstGeom prst="rect">
            <a:avLst/>
          </a:prstGeom>
          <a:solidFill>
            <a:srgbClr val="3A5A3A"/>
          </a:solidFill>
          <a:ln w="12700">
            <a:solidFill>
              <a:srgbClr val="3A5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292608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A5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8503920" cy="22860"/>
          </a:xfrm>
          <a:prstGeom prst="rect">
            <a:avLst/>
          </a:prstGeom>
          <a:solidFill>
            <a:srgbClr val="5B8A5B"/>
          </a:solidFill>
          <a:ln w="12700">
            <a:solidFill>
              <a:srgbClr val="5B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8503920" cy="804672"/>
          </a:xfrm>
          <a:prstGeom prst="rect">
            <a:avLst/>
          </a:prstGeom>
          <a:solidFill>
            <a:srgbClr val="EAF2E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Chaudhary, A., &amp; Risinahani, M. (2023). Airline reviews [Data set]. Kaggle. https://doi.org/10.34740/KAGGLE/DS/404107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920240"/>
            <a:ext cx="85039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99339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Lacic, E., Kowald, D., &amp; Lex, E. (2016). High enough? Explaining and predicting traveler satisfaction using airline reviews. arXiv:1604.00942.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834640"/>
            <a:ext cx="8503920" cy="804672"/>
          </a:xfrm>
          <a:prstGeom prst="rect">
            <a:avLst/>
          </a:prstGeom>
          <a:solidFill>
            <a:srgbClr val="EAF2E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90779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Srinivas, S., &amp; Ramachandiran, S. (2020). Discovering airline-specific business intelligence from online passenger reviews: An unsupervised text analytics approach. arXiv:2012.08000.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749040"/>
            <a:ext cx="85039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82219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Wickham, H., &amp; Grolemund, G. (2017). R for Data Science. O'Reilly Media.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4663440"/>
            <a:ext cx="8503920" cy="804672"/>
          </a:xfrm>
          <a:prstGeom prst="rect">
            <a:avLst/>
          </a:prstGeom>
          <a:solidFill>
            <a:srgbClr val="EAF2E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473659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Yakut, I., et al. (2015). Predicting airline customer satisfaction using online reviews. arXiv:1512.03632.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5577840"/>
            <a:ext cx="85039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565099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Skytrax. (n.d.). Airline customer reviews. https://www.airlinequality.com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1952</Words>
  <Application>Microsoft Macintosh PowerPoint</Application>
  <PresentationFormat>On-screen Show (16:9)</PresentationFormat>
  <Paragraphs>246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Georgia</vt:lpstr>
      <vt:lpstr>Segoe UI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 C, Niranjan</cp:lastModifiedBy>
  <cp:revision>19</cp:revision>
  <dcterms:created xsi:type="dcterms:W3CDTF">2026-05-01T22:19:36Z</dcterms:created>
  <dcterms:modified xsi:type="dcterms:W3CDTF">2026-05-01T23:37:00Z</dcterms:modified>
</cp:coreProperties>
</file>